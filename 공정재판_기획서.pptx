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컨셉 문장 = 의사봉 플레이버 텍스트 「나는 어느 편도 아니다. 나는, 저울이다.」와 같은 선언.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스펙은 README/PORTING 실측값. 아트는 도토 스프라이트 슬롯을 비워둔 상태.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케이스 설계 체크리스트 1번 항목의 근거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초상: 재판장·마요이·검사는 원본 아트 크롭, 변호사·피고인은 컬러 블록+이니셜 플레이스홀더(도토 아트 대기).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의사봉이 클라이맥스 입력을 전부 흡수한다 — 위기 대응을 고민이 아니라 의식(ritual)으로 만든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비네트 색 #961414 = 원본 rgba(150,20,20). 반경·색은 GameConfig 필드.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 루트 case4는 언어를 en으로 두고 시작해 항상-ko 사양까지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 원칙: 매직넘버는 전부 MentalConfig, 텍스트·데이터는 전부 court.json.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7680960" cy="7680960"/>
          </a:xfrm>
          <a:prstGeom prst="ellipse">
            <a:avLst/>
          </a:prstGeom>
          <a:solidFill>
            <a:srgbClr val="141C3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6035040" cy="6035040"/>
          </a:xfrm>
          <a:prstGeom prst="ellipse">
            <a:avLst/>
          </a:prstGeom>
          <a:solidFill>
            <a:srgbClr val="17122A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2148840"/>
            <a:ext cx="320040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2148840"/>
            <a:ext cx="0" cy="141732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62872" y="1993392"/>
            <a:ext cx="310896" cy="31089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7818120" y="2148840"/>
            <a:ext cx="0" cy="685800"/>
          </a:xfrm>
          <a:prstGeom prst="line">
            <a:avLst/>
          </a:prstGeom>
          <a:noFill/>
          <a:ln w="19050">
            <a:solidFill>
              <a:srgbClr val="6E7B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18520" y="2148840"/>
            <a:ext cx="0" cy="685800"/>
          </a:xfrm>
          <a:prstGeom prst="line">
            <a:avLst/>
          </a:prstGeom>
          <a:noFill/>
          <a:ln w="19050">
            <a:solidFill>
              <a:srgbClr val="6E7B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7269480" y="2834640"/>
            <a:ext cx="1097280" cy="411480"/>
          </a:xfrm>
          <a:prstGeom prst="trapezoid">
            <a:avLst/>
          </a:prstGeom>
          <a:solidFill>
            <a:srgbClr val="B02A2A"/>
          </a:solidFill>
          <a:ln/>
        </p:spPr>
      </p:sp>
      <p:sp>
        <p:nvSpPr>
          <p:cNvPr id="10" name="Shape 8"/>
          <p:cNvSpPr/>
          <p:nvPr/>
        </p:nvSpPr>
        <p:spPr>
          <a:xfrm rot="10800000">
            <a:off x="10469880" y="2834640"/>
            <a:ext cx="1097280" cy="411480"/>
          </a:xfrm>
          <a:prstGeom prst="trapezoid">
            <a:avLst/>
          </a:prstGeom>
          <a:solidFill>
            <a:srgbClr val="3D5A8C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완전한 책임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8700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심신상실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96528" y="3703320"/>
            <a:ext cx="1243584" cy="402336"/>
          </a:xfrm>
          <a:prstGeom prst="roundRect">
            <a:avLst>
              <a:gd name="adj" fmla="val 45455"/>
            </a:avLst>
          </a:prstGeom>
          <a:solidFill>
            <a:srgbClr val="3FB39B"/>
          </a:solidFill>
          <a:ln/>
        </p:spPr>
      </p:sp>
      <p:sp>
        <p:nvSpPr>
          <p:cNvPr id="14" name="Text 12"/>
          <p:cNvSpPr/>
          <p:nvPr/>
        </p:nvSpPr>
        <p:spPr>
          <a:xfrm>
            <a:off x="8796528" y="3703320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중립 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1417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DESIGN DOCUMENT ·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17830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6200" dirty="0"/>
          </a:p>
        </p:txBody>
      </p:sp>
      <p:sp>
        <p:nvSpPr>
          <p:cNvPr id="17" name="Text 15"/>
          <p:cNvSpPr/>
          <p:nvPr/>
        </p:nvSpPr>
        <p:spPr>
          <a:xfrm>
            <a:off x="822960" y="28163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— CASE 3 · CASE 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34015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“진실은, 언제나 그 사이에 있다”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법정 추리 게임 · 플레이어는 어느 편도 아닌 중립 재판장이다.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승소가 아니라 — 양측의 「과장」을 증거로 걷어내고 진실을 저울의 중앙에 세우는 것이 목표.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12064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1B2440"/>
          </a:solidFill>
          <a:ln w="12700">
            <a:solidFill>
              <a:srgbClr val="323C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6 (URP 2D) + UGUI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880" y="512064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1B2440"/>
          </a:solidFill>
          <a:ln w="12700">
            <a:solidFill>
              <a:srgbClr val="323C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WebGL · 에디터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512064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1B2440"/>
          </a:solidFill>
          <a:ln w="12700">
            <a:solidFill>
              <a:srgbClr val="323C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· English · 日本語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잉여피자어부 · MIT License © 2026 · github.com/emptypizza/gghf4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장 요약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게임이 다른 법정물과 갈리는 지점 세 가지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B2440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7830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3042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전복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9536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검사도 변호도 아닌 재판장이 플레이어.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게다가 본업은 정신과 의사 — 첫 재판.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36758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코미디와 주제를 동시에 만드는 장치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4256" y="1481328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B2440"/>
          </a:solidFill>
          <a:ln w="15875">
            <a:solidFill>
              <a:srgbClr val="3FB39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1783080"/>
            <a:ext cx="384048" cy="384048"/>
          </a:xfrm>
          <a:prstGeom prst="ellipse">
            <a:avLst/>
          </a:prstGeom>
          <a:solidFill>
            <a:srgbClr val="3FB39B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23042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정답은 「사이」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26864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양측 주장이 둘 다 그럴듯한 극단.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한쪽 편을 드는 순간 오답이 된다.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26864" y="36758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과장도 축소도 오진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1481328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B2440"/>
          </a:solidFill>
          <a:ln w="15875">
            <a:solidFill>
              <a:srgbClr val="B0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1783080"/>
            <a:ext cx="384048" cy="384048"/>
          </a:xfrm>
          <a:prstGeom prst="ellipse">
            <a:avLst/>
          </a:prstGeom>
          <a:solidFill>
            <a:srgbClr val="B0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8394192" y="23042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증거로 재는 판단력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94192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정신질환 형사 사건을 낙인도 면죄부도 아닌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「판단력의 정도」로 심리한다.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94192" y="36758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 의식 = 게임플레이 그 자체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11055096" cy="1600200"/>
          </a:xfrm>
          <a:prstGeom prst="roundRect">
            <a:avLst>
              <a:gd name="adj" fmla="val 4571"/>
            </a:avLst>
          </a:prstGeom>
          <a:solidFill>
            <a:srgbClr val="161E38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663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스코프 · 사실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0292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에피소드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526694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 「공정재판」 + CASE 4 「영수증 없는 화장실」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11880" y="50292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11880" y="526694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6000.5.5f1 · URP 2D · UGUI · Input System 전용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09360" y="50292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526694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텍스트·증거·판정 = court.json / 수치·연출 = MentalConfig(SO)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006840" y="50292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사운드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06840" y="526694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BGM·SFX 전량 실시간 절차 합성 (외부 음원 0)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컨셉 — 진실은 그 사이에 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법정물의 익숙한 구조(한쪽 편에서 승소)를 뒤집는다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34440" y="2971800"/>
            <a:ext cx="9692640" cy="0"/>
          </a:xfrm>
          <a:prstGeom prst="line">
            <a:avLst/>
          </a:prstGeom>
          <a:noFill/>
          <a:ln w="25400">
            <a:solidFill>
              <a:srgbClr val="3A45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029968"/>
            <a:ext cx="3200400" cy="2240280"/>
          </a:xfrm>
          <a:prstGeom prst="roundRect">
            <a:avLst>
              <a:gd name="adj" fmla="val 3265"/>
            </a:avLst>
          </a:prstGeom>
          <a:solidFill>
            <a:srgbClr val="1B2440"/>
          </a:solidFill>
          <a:ln w="15875">
            <a:solidFill>
              <a:srgbClr val="B0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극단 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「완전한 책임」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41248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 측 배너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419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정신 문제 없음 — 전적으로 책임져야 한다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572768"/>
            <a:ext cx="3200400" cy="2468880"/>
          </a:xfrm>
          <a:prstGeom prst="roundRect">
            <a:avLst>
              <a:gd name="adj" fmla="val 2963"/>
            </a:avLst>
          </a:prstGeom>
          <a:solidFill>
            <a:srgbClr val="17302C"/>
          </a:solidFill>
          <a:ln w="15875">
            <a:solidFill>
              <a:srgbClr val="3FB3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중립 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심신미약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영역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9626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판단력은 떨어졌으나 현실 검증은 남아 있었다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0" y="2029968"/>
            <a:ext cx="3200400" cy="2240280"/>
          </a:xfrm>
          <a:prstGeom prst="roundRect">
            <a:avLst>
              <a:gd name="adj" fmla="val 3265"/>
            </a:avLst>
          </a:prstGeom>
          <a:solidFill>
            <a:srgbClr val="1B2440"/>
          </a:solidFill>
          <a:ln w="15875">
            <a:solidFill>
              <a:srgbClr val="4A7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7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극단 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「심신상실」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68680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변호 측 배너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419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전혀 알지 못했다 — 책임을 물을 수 없다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526280"/>
            <a:ext cx="5486400" cy="1572768"/>
          </a:xfrm>
          <a:prstGeom prst="roundRect">
            <a:avLst>
              <a:gd name="adj" fmla="val 4651"/>
            </a:avLst>
          </a:prstGeom>
          <a:solidFill>
            <a:srgbClr val="161E38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709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 의사봉 플레이버 = 컨셉 선언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510235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i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“나는 어느 편도 아니다. 나는, 저울이다.”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355080" y="4526280"/>
            <a:ext cx="5266944" cy="1572768"/>
          </a:xfrm>
          <a:prstGeom prst="roundRect">
            <a:avLst>
              <a:gd name="adj" fmla="val 4651"/>
            </a:avLst>
          </a:prstGeom>
          <a:solidFill>
            <a:srgbClr val="161E38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4709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56832" y="5029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양쪽이 모두 「그럴듯한 극단」이어야 중립 컨셉이 산다. 한쪽이 명백한 악역이면 플레이어는 편을 들게 되고, 이 게임의 코어가 죽는다.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세계관 · 캐릭터 (CASE 3)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전복이 코미디와 주제를 동시에 만든다 — 정신과 의사가 재판장석에 앉는다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2048256" cy="3246120"/>
          </a:xfrm>
          <a:prstGeom prst="roundRect">
            <a:avLst>
              <a:gd name="adj" fmla="val 3571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87452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225296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재판장 (플레이어)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303580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이현중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본업은 정신과 의사 — 첫 재판.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정신질환 사건을 「의사의 눈」으로 심리하는 장치.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16352" y="1600200"/>
            <a:ext cx="2048256" cy="3246120"/>
          </a:xfrm>
          <a:prstGeom prst="roundRect">
            <a:avLst>
              <a:gd name="adj" fmla="val 3571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874520"/>
            <a:ext cx="731520" cy="731520"/>
          </a:xfrm>
          <a:prstGeom prst="ellipse">
            <a:avLst/>
          </a:prstGeom>
          <a:solidFill>
            <a:srgbClr val="8E7CC3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962656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판사 (보조)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62656" y="303580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마요이 아야사토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80944" y="36576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역전재판 패러디 게스트.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오마쥬 표기 대상.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65776" y="1600200"/>
            <a:ext cx="2048256" cy="3246120"/>
          </a:xfrm>
          <a:prstGeom prst="roundRect">
            <a:avLst>
              <a:gd name="adj" fmla="val 3571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24144" y="1874520"/>
            <a:ext cx="731520" cy="731520"/>
          </a:xfrm>
          <a:prstGeom prst="ellipse">
            <a:avLst/>
          </a:prstGeom>
          <a:solidFill>
            <a:srgbClr val="B02A2A"/>
          </a:solidFill>
          <a:ln/>
        </p:spPr>
      </p:sp>
      <p:sp>
        <p:nvSpPr>
          <p:cNvPr id="21" name="Text 19"/>
          <p:cNvSpPr/>
          <p:nvPr/>
        </p:nvSpPr>
        <p:spPr>
          <a:xfrm>
            <a:off x="5724144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080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303580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강다나카 무무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30368" y="36576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「완전한 책임」 극단 담당.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정신 문제 없음을 주장.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1600200"/>
            <a:ext cx="2048256" cy="3246120"/>
          </a:xfrm>
          <a:prstGeom prst="roundRect">
            <a:avLst>
              <a:gd name="adj" fmla="val 3571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1874520"/>
            <a:ext cx="731520" cy="731520"/>
          </a:xfrm>
          <a:prstGeom prst="ellipse">
            <a:avLst/>
          </a:prstGeom>
          <a:solidFill>
            <a:srgbClr val="4A72B8"/>
          </a:solidFill>
          <a:ln/>
        </p:spPr>
      </p:sp>
      <p:sp>
        <p:nvSpPr>
          <p:cNvPr id="27" name="Text 25"/>
          <p:cNvSpPr/>
          <p:nvPr/>
        </p:nvSpPr>
        <p:spPr>
          <a:xfrm>
            <a:off x="7973568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61504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변호사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61504" y="303580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나단우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79792" y="36576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「심신상실」 극단 담당.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전혀 알지 못했다를 주장.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64624" y="1600200"/>
            <a:ext cx="2048256" cy="3246120"/>
          </a:xfrm>
          <a:prstGeom prst="roundRect">
            <a:avLst>
              <a:gd name="adj" fmla="val 3571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22992" y="1874520"/>
            <a:ext cx="731520" cy="731520"/>
          </a:xfrm>
          <a:prstGeom prst="ellipse">
            <a:avLst/>
          </a:prstGeom>
          <a:solidFill>
            <a:srgbClr val="5D6B8F"/>
          </a:solidFill>
          <a:ln/>
        </p:spPr>
      </p:sp>
      <p:sp>
        <p:nvSpPr>
          <p:cNvPr id="33" name="Text 31"/>
          <p:cNvSpPr/>
          <p:nvPr/>
        </p:nvSpPr>
        <p:spPr>
          <a:xfrm>
            <a:off x="10222992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710928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6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피고인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10928" y="303580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강도현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29216" y="36576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양극성장애 조증 삽화 상태에서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사건을 일으켰다.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120640"/>
            <a:ext cx="11055096" cy="1051560"/>
          </a:xfrm>
          <a:prstGeom prst="roundRect">
            <a:avLst>
              <a:gd name="adj" fmla="val 6957"/>
            </a:avLst>
          </a:prstGeom>
          <a:solidFill>
            <a:srgbClr val="1E1622"/>
          </a:solidFill>
          <a:ln w="15875">
            <a:solidFill>
              <a:srgbClr val="B0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5285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 의식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77440" y="525780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정신질환 형사 사건을 소재로 하되 — 낙인도, 면죄부도 아니다. 「판단력의 정도」를 증거로 재는 행위 자체가 게임플레이가 되도록 설계했다.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루프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증언 심리 → 과장 발견 → 증거 제시 → 이의! → 의사봉 → 저울 한쪽 제거 → … → 중립 판결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" y="1627632"/>
            <a:ext cx="1627632" cy="2423160"/>
          </a:xfrm>
          <a:prstGeom prst="roundRect">
            <a:avLst>
              <a:gd name="adj" fmla="val 4494"/>
            </a:avLst>
          </a:prstGeom>
          <a:solidFill>
            <a:srgbClr val="1B2440"/>
          </a:solidFill>
          <a:ln w="15875">
            <a:solidFill>
              <a:srgbClr val="5D6B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847088"/>
            <a:ext cx="493776" cy="493776"/>
          </a:xfrm>
          <a:prstGeom prst="ellipse">
            <a:avLst/>
          </a:prstGeom>
          <a:solidFill>
            <a:srgbClr val="5D6B8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47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" y="24871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증언 심리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76072" y="292608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타자기 대사창으로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진술을 읽는다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12264" y="1847088"/>
            <a:ext cx="292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04872" y="1627632"/>
            <a:ext cx="1627632" cy="2423160"/>
          </a:xfrm>
          <a:prstGeom prst="roundRect">
            <a:avLst>
              <a:gd name="adj" fmla="val 4494"/>
            </a:avLst>
          </a:prstGeom>
          <a:solidFill>
            <a:srgbClr val="1B2440"/>
          </a:solidFill>
          <a:ln w="15875">
            <a:solidFill>
              <a:srgbClr val="6E7B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1847088"/>
            <a:ext cx="493776" cy="493776"/>
          </a:xfrm>
          <a:prstGeom prst="ellipse">
            <a:avLst/>
          </a:prstGeom>
          <a:solidFill>
            <a:srgbClr val="6E7BA8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1847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96312" y="24871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과장 발견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496312" y="292608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표식된 진술에서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부풀림을 찾는다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32504" y="1847088"/>
            <a:ext cx="292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25112" y="1627632"/>
            <a:ext cx="1627632" cy="2423160"/>
          </a:xfrm>
          <a:prstGeom prst="roundRect">
            <a:avLst>
              <a:gd name="adj" fmla="val 4494"/>
            </a:avLst>
          </a:prstGeom>
          <a:solidFill>
            <a:srgbClr val="1B2440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1847088"/>
            <a:ext cx="493776" cy="49377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847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16552" y="24871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 제시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16552" y="292608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「제시한다」 확정 행동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인정! / 기각! 즉답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52744" y="1847088"/>
            <a:ext cx="292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45352" y="1627632"/>
            <a:ext cx="1627632" cy="2423160"/>
          </a:xfrm>
          <a:prstGeom prst="roundRect">
            <a:avLst>
              <a:gd name="adj" fmla="val 4494"/>
            </a:avLst>
          </a:prstGeom>
          <a:solidFill>
            <a:srgbClr val="1B2440"/>
          </a:solidFill>
          <a:ln w="15875">
            <a:solidFill>
              <a:srgbClr val="B0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847088"/>
            <a:ext cx="493776" cy="493776"/>
          </a:xfrm>
          <a:prstGeom prst="ellipse">
            <a:avLst/>
          </a:prstGeom>
          <a:solidFill>
            <a:srgbClr val="B02A2A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1847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36792" y="24871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이의!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336792" y="292608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질서 급락 −55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소란·붉은 비네트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72984" y="1847088"/>
            <a:ext cx="292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65592" y="1627632"/>
            <a:ext cx="1627632" cy="2423160"/>
          </a:xfrm>
          <a:prstGeom prst="roundRect">
            <a:avLst>
              <a:gd name="adj" fmla="val 4494"/>
            </a:avLst>
          </a:prstGeom>
          <a:solidFill>
            <a:srgbClr val="1B2440"/>
          </a:solidFill>
          <a:ln w="15875">
            <a:solidFill>
              <a:srgbClr val="3FB39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520" y="1847088"/>
            <a:ext cx="493776" cy="493776"/>
          </a:xfrm>
          <a:prstGeom prst="ellipse">
            <a:avLst/>
          </a:prstGeom>
          <a:solidFill>
            <a:srgbClr val="3FB39B"/>
          </a:solidFill>
          <a:ln/>
        </p:spPr>
      </p:sp>
      <p:sp>
        <p:nvSpPr>
          <p:cNvPr id="33" name="Text 31"/>
          <p:cNvSpPr/>
          <p:nvPr/>
        </p:nvSpPr>
        <p:spPr>
          <a:xfrm>
            <a:off x="8732520" y="1847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57032" y="24871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의사봉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257032" y="292608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질서 100 복구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해법 = 의식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93224" y="1847088"/>
            <a:ext cx="292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085832" y="1627632"/>
            <a:ext cx="1627632" cy="2423160"/>
          </a:xfrm>
          <a:prstGeom prst="roundRect">
            <a:avLst>
              <a:gd name="adj" fmla="val 4494"/>
            </a:avLst>
          </a:prstGeom>
          <a:solidFill>
            <a:srgbClr val="1B2440"/>
          </a:solidFill>
          <a:ln w="15875">
            <a:solidFill>
              <a:srgbClr val="C08A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52760" y="1847088"/>
            <a:ext cx="493776" cy="493776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39" name="Text 37"/>
          <p:cNvSpPr/>
          <p:nvPr/>
        </p:nvSpPr>
        <p:spPr>
          <a:xfrm>
            <a:off x="10652760" y="1847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177272" y="24871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저울 제거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10177272" y="292608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과장 하나 =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 하나 제거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" y="4160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루프 반복 — 양쪽 과장을 모두 걷어내면 저울에  ◆ 중립 ◆  배지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6928" y="4663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61E38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8280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엔딩 · CLEAR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41248" y="5212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중립 판결 → 2축 선택 정답 → 판결 확정 → 3연타 의사봉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334256" y="4663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61E38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08576" y="48280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재판 무효 (Mistrial)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608576" y="5212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진술에 무관 증거 2회+ 반복 × 신뢰도 5 소진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101584" y="4663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61E38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75904" y="48280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상태머신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8375904" y="5212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→ open → hearing → verdict → ending / mistrial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의도한 감정 곡선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단계가 어떤 감정을 노리고, 무엇으로 그 감정을 만드는가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17203A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11096"/>
            <a:ext cx="219456" cy="219456"/>
          </a:xfrm>
          <a:prstGeom prst="ellipse">
            <a:avLst/>
          </a:prstGeom>
          <a:solidFill>
            <a:srgbClr val="5D6B8F"/>
          </a:solidFill>
          <a:ln/>
        </p:spPr>
      </p:sp>
      <p:sp>
        <p:nvSpPr>
          <p:cNvPr id="9" name="Text 7"/>
          <p:cNvSpPr/>
          <p:nvPr/>
        </p:nvSpPr>
        <p:spPr>
          <a:xfrm>
            <a:off x="1133856" y="16916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증언 심리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6916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6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몰입 · 탐색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타자기 대사창 · 질서 타이머 정지 — 읽는 시간은 보호한다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287000" y="1929384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5D6B8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71048" y="1929384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2C3557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55096" y="1929384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2C3557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2450592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670048"/>
            <a:ext cx="219456" cy="21945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1133856" y="24505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 제시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24505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긴장 · 확신 시험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4505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「제시한다」 확정 행동 · 인정!/기각! 즉시 판정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87000" y="2688336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D4AF3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71048" y="2688336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D4AF37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55096" y="2688336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2C3557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3209544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17203A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3429000"/>
            <a:ext cx="219456" cy="219456"/>
          </a:xfrm>
          <a:prstGeom prst="ellipse">
            <a:avLst/>
          </a:prstGeom>
          <a:solidFill>
            <a:srgbClr val="B02A2A"/>
          </a:solidFill>
          <a:ln/>
        </p:spPr>
      </p:sp>
      <p:sp>
        <p:nvSpPr>
          <p:cNvPr id="25" name="Text 23"/>
          <p:cNvSpPr/>
          <p:nvPr/>
        </p:nvSpPr>
        <p:spPr>
          <a:xfrm>
            <a:off x="1133856" y="320954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이의 발생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320954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320954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질서 −55 · 소란 연출 · 붉은 비네트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287000" y="3447288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B02A2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71048" y="3447288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B02A2A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55096" y="3447288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B02A2A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928" y="3968496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" y="4187952"/>
            <a:ext cx="219456" cy="219456"/>
          </a:xfrm>
          <a:prstGeom prst="ellipse">
            <a:avLst/>
          </a:prstGeom>
          <a:solidFill>
            <a:srgbClr val="3FB39B"/>
          </a:solidFill>
          <a:ln/>
        </p:spPr>
      </p:sp>
      <p:sp>
        <p:nvSpPr>
          <p:cNvPr id="33" name="Text 31"/>
          <p:cNvSpPr/>
          <p:nvPr/>
        </p:nvSpPr>
        <p:spPr>
          <a:xfrm>
            <a:off x="1133856" y="396849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926080" y="396849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카타르시스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0640" y="39684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해법(질서 100 복구) — 고민이 아니라 의식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287000" y="4206240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3FB39B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71048" y="4206240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3FB39B"/>
          </a:solidFill>
          <a:ln/>
        </p:spPr>
      </p:sp>
      <p:sp>
        <p:nvSpPr>
          <p:cNvPr id="38" name="Shape 36"/>
          <p:cNvSpPr/>
          <p:nvPr/>
        </p:nvSpPr>
        <p:spPr>
          <a:xfrm>
            <a:off x="11055096" y="4206240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2C3557"/>
          </a:solidFill>
          <a:ln/>
        </p:spPr>
      </p:sp>
      <p:sp>
        <p:nvSpPr>
          <p:cNvPr id="39" name="Shape 37"/>
          <p:cNvSpPr/>
          <p:nvPr/>
        </p:nvSpPr>
        <p:spPr>
          <a:xfrm>
            <a:off x="566928" y="4727448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17203A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" y="4946904"/>
            <a:ext cx="219456" cy="219456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41" name="Text 39"/>
          <p:cNvSpPr/>
          <p:nvPr/>
        </p:nvSpPr>
        <p:spPr>
          <a:xfrm>
            <a:off x="1133856" y="47274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저울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926080" y="47274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진행의 가시화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20640" y="472744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과장 하나 걷을 때마다 추 하나 제거 · 양쪽 제거 시 ◆중립◆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287000" y="4965192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C08A3E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71048" y="4965192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2C3557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55096" y="4965192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2C3557"/>
          </a:solidFill>
          <a:ln/>
        </p:spPr>
      </p:sp>
      <p:sp>
        <p:nvSpPr>
          <p:cNvPr id="47" name="Shape 45"/>
          <p:cNvSpPr/>
          <p:nvPr/>
        </p:nvSpPr>
        <p:spPr>
          <a:xfrm>
            <a:off x="566928" y="5486400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" y="5705856"/>
            <a:ext cx="219456" cy="219456"/>
          </a:xfrm>
          <a:prstGeom prst="ellipse">
            <a:avLst/>
          </a:prstGeom>
          <a:solidFill>
            <a:srgbClr val="8E7CC3"/>
          </a:solidFill>
          <a:ln/>
        </p:spPr>
      </p:sp>
      <p:sp>
        <p:nvSpPr>
          <p:cNvPr id="49" name="Text 47"/>
          <p:cNvSpPr/>
          <p:nvPr/>
        </p:nvSpPr>
        <p:spPr>
          <a:xfrm>
            <a:off x="1133856" y="5486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판결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926080" y="54864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7C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이해 시험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120640" y="54864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2축 선택 · verdictFacts 요약으로 추론 복기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10287000" y="5724144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8E7CC3"/>
          </a:solidFill>
          <a:ln/>
        </p:spPr>
      </p:sp>
      <p:sp>
        <p:nvSpPr>
          <p:cNvPr id="53" name="Shape 51"/>
          <p:cNvSpPr/>
          <p:nvPr/>
        </p:nvSpPr>
        <p:spPr>
          <a:xfrm>
            <a:off x="10671048" y="5724144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8E7CC3"/>
          </a:solidFill>
          <a:ln/>
        </p:spPr>
      </p:sp>
      <p:sp>
        <p:nvSpPr>
          <p:cNvPr id="54" name="Shape 52"/>
          <p:cNvSpPr/>
          <p:nvPr/>
        </p:nvSpPr>
        <p:spPr>
          <a:xfrm>
            <a:off x="11055096" y="5724144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8E7CC3"/>
          </a:solidFill>
          <a:ln/>
        </p:spPr>
      </p:sp>
      <p:sp>
        <p:nvSpPr>
          <p:cNvPr id="55" name="Text 53"/>
          <p:cNvSpPr/>
          <p:nvPr/>
        </p:nvSpPr>
        <p:spPr>
          <a:xfrm>
            <a:off x="1133856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92608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의도한 감정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120640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뒷받침 장치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28700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E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긴장 강도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" y="635508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읽기를 벌하지 않고, 머뭇거림만 압박한다 — 질서 자연 감소는 「결정 중」에만 흐른다.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긴장 시스템 — 질서(Order)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타이머는 보조 압박이다. 주 실패 축은 어디까지나 증거 판단(신뢰도).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1B2440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8308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</a:t>
            </a:r>
            <a:pPr algn="ctr" indent="0" marL="0">
              <a:buNone/>
            </a:pPr>
            <a:r>
              <a:rPr lang="en-US" sz="12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/초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13232" y="26060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 감소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9718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「결정 중」에만 흐른다.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대사 진행·법정 기록 열람 중 정지.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16352" y="1572768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1B2440"/>
          </a:solidFill>
          <a:ln w="15875">
            <a:solidFill>
              <a:srgbClr val="B0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178308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−55</a:t>
            </a:r>
            <a:pPr algn="ctr" indent="0" marL="0">
              <a:buNone/>
            </a:pPr>
            <a:r>
              <a:rPr lang="en-US" sz="12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962656" y="26060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이의 발생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62656" y="29718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질서 급락 + 소란 연출.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위기 구간 진입.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65776" y="1572768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1B2440"/>
          </a:solidFill>
          <a:ln w="15875">
            <a:solidFill>
              <a:srgbClr val="C058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78308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5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pPr algn="ctr" indent="0" marL="0">
              <a:buNone/>
            </a:pPr>
            <a:r>
              <a:rPr lang="en-US" sz="12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미만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212080" y="26060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긴장 비네트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2080" y="29718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가장자리가 붉어진다.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중심은 침범하지 않음.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0" y="1572768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1B2440"/>
          </a:solidFill>
          <a:ln w="15875">
            <a:solidFill>
              <a:srgbClr val="3FB3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178308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pPr algn="ctr" indent="0" marL="0">
              <a:buNone/>
            </a:pPr>
            <a:r>
              <a:rPr lang="en-US" sz="12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복구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461504" y="26060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61504" y="29718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위기의 단일 해법.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질서 95 미만에서만 유효.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64624" y="1572768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1B2440"/>
          </a:solidFill>
          <a:ln w="15875">
            <a:solidFill>
              <a:srgbClr val="6E7B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10928" y="178308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pPr algn="ctr" indent="0" marL="0">
              <a:buNone/>
            </a:pPr>
            <a:r>
              <a:rPr lang="en-US" sz="12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리셋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9710928" y="26060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질서 0의 벌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710928" y="29718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즉사 아님. 리셋 + 신뢰도 −1.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3434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61E38"/>
          </a:solidFill>
          <a:ln w="15875">
            <a:solidFill>
              <a:srgbClr val="2C35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「읽는 중」에는 멈추는가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4937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타이머가 읽기 시간을 갉아먹으면 플레이어는 텍스트를 건너뛴다. 그러면 「과장을 알아채는」 코어가 통째로 죽는다.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압박은 결정에만, 보호는 이해에.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36208" y="4343400"/>
            <a:ext cx="5385816" cy="1783080"/>
          </a:xfrm>
          <a:prstGeom prst="roundRect">
            <a:avLst>
              <a:gd name="adj" fmla="val 4103"/>
            </a:avLst>
          </a:prstGeom>
          <a:solidFill>
            <a:srgbClr val="161E38"/>
          </a:solidFill>
          <a:ln w="15875">
            <a:solidFill>
              <a:srgbClr val="2C35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연타 방지 설계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37960" y="4937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의사봉은 질서 95 미만에서만 유효 — 무한 연타로 타이머 자체를 무력화하는 우회를 막는다.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의사봉은 「위기 해소 의식」이지, 상시 버튼이 아니다.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실수 용인 설계 — 학습 곡선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실패는 가르치고, 반복 실수만 벌한다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B2440"/>
          </a:solidFill>
          <a:ln w="15875">
            <a:solidFill>
              <a:srgbClr val="3FB3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 증거 1회차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무벌점 (질서만 −8)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「일단 던져보기」를 학습 기회로 허용한다.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92424" y="1572768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B2440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증거 계층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21024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벌점 없이 힌트 대사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21024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정황상 그럴듯한 증거는 왜 부족한지를 알려준다.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572768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B2440"/>
          </a:solidFill>
          <a:ln w="15875">
            <a:solidFill>
              <a:srgbClr val="6E7B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판결 오답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재시도 + 방향 피드백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 편향 / 변호 편향 / 처분 오답 — 패배 조건이 아니다.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43416" y="1572768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B2440"/>
          </a:solidFill>
          <a:ln w="15875">
            <a:solidFill>
              <a:srgbClr val="B0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2016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벌점 (신뢰도 −1)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72016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진술 2회+ 반복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72016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여기서만 깎인다. 신뢰도 5 소진 시 재판 무효.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977640"/>
            <a:ext cx="11055096" cy="2103120"/>
          </a:xfrm>
          <a:prstGeom prst="roundRect">
            <a:avLst>
              <a:gd name="adj" fmla="val 3478"/>
            </a:avLst>
          </a:prstGeom>
          <a:solidFill>
            <a:srgbClr val="161E38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증거 — 막힌 플레이어를 위한 사다리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498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증거를 직접 알려주지 않되, 「직접성」이라는 기준을 대사로 가르친다.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4892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진료 기록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63240" y="4892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4892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“과거 이력입니다. 사건 당시 판단력은 정신감정서가 직접 말합니다.”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5458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🗒️ 동료 진술서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63240" y="54589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29000" y="5458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“징후를 보이지만, 직접 근거는 아닙니다.”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 디자인 — 「직접성」의 계층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플레이어가 배우는 것은 “관련 있어 보이는 것”과 “직접 증명하는 것”의 구별이다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1B2440"/>
          </a:solidFill>
          <a:ln w="15875">
            <a:solidFill>
              <a:srgbClr val="4A72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7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증거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정신감정서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578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검사의 「정신 문제 없음」을 격추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9626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사건 당시 판단력에 대한 직접 소견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456432"/>
            <a:ext cx="3200400" cy="438912"/>
          </a:xfrm>
          <a:prstGeom prst="roundRect">
            <a:avLst>
              <a:gd name="adj" fmla="val 20833"/>
            </a:avLst>
          </a:prstGeom>
          <a:solidFill>
            <a:srgbClr val="222C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564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7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판단력 저하 · 변호에 유리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98848" y="1572768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1B2440"/>
          </a:solidFill>
          <a:ln w="15875">
            <a:solidFill>
              <a:srgbClr val="B0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증거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85232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옥상 CCTV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2578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변호의 「전혀 알지 못했다」를 격추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54880" y="29626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스스로 119 신고 = 현실 검증 잔존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3456432"/>
            <a:ext cx="3200400" cy="438912"/>
          </a:xfrm>
          <a:prstGeom prst="roundRect">
            <a:avLst>
              <a:gd name="adj" fmla="val 20833"/>
            </a:avLst>
          </a:prstGeom>
          <a:solidFill>
            <a:srgbClr val="222C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4564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현실 검증 잔존 · 검사에 유리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30768" y="1572768"/>
            <a:ext cx="3191256" cy="2606040"/>
          </a:xfrm>
          <a:prstGeom prst="roundRect">
            <a:avLst>
              <a:gd name="adj" fmla="val 2807"/>
            </a:avLst>
          </a:prstGeom>
          <a:solidFill>
            <a:srgbClr val="161E38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1755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정황 증거 (near)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0" y="205740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25712" y="2057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진료 기록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 이력 — 힌트 대사로 직접 증거를 가리킨다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0" y="285292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🗒️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25712" y="28529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동료 진술서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0" y="3172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EB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2주간의 전조 — 마찬가지로 사다리 역할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0" y="3675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 의사봉 = 플레이버 (컨셉 선언 텍스트)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434840"/>
            <a:ext cx="11055096" cy="1645920"/>
          </a:xfrm>
          <a:prstGeom prst="roundRect">
            <a:avLst>
              <a:gd name="adj" fmla="val 4444"/>
            </a:avLst>
          </a:prstGeom>
          <a:solidFill>
            <a:srgbClr val="17302C"/>
          </a:solidFill>
          <a:ln w="15875">
            <a:solidFill>
              <a:srgbClr val="3FB3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케이스의 핵심 설계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95604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직접 증거가 서로 반대 방향을 가리킨다.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14400" y="54132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감정서는 “판단력 저하”(변호에 유리), CCTV는 “현실 검증 잔존”(검사에 유리) — 그래서 정답 판결이 억지 없이 그 사이, 심신미약 + 처벌·치료 병행으로 수렴한다.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판결 디자인 — 2축 선택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책임능력 × 처분. 한 축만 맞혀서는 통과하지 못한다.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6596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책임능력 →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처분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65960" y="17739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책임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67328" y="17739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심신미약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68696" y="17739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 없음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1214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처벌만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65960" y="2121408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12140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5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67328" y="2121408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212140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5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68696" y="2121408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68696" y="212140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5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054096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처벌·치료 병행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65960" y="3054096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05409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5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67328" y="3054096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E4A41"/>
          </a:solidFill>
          <a:ln w="25400">
            <a:solidFill>
              <a:srgbClr val="3FB3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305409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정답 ◆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68696" y="3054096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68696" y="305409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5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3986784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처분 없음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965960" y="3986784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398678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5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67328" y="3986784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7328" y="398678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5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68696" y="3986784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68696" y="398678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5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4937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정답: 심신미약 × 처벌·치료 병행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60920" y="1572768"/>
            <a:ext cx="4261104" cy="1874520"/>
          </a:xfrm>
          <a:prstGeom prst="roundRect">
            <a:avLst>
              <a:gd name="adj" fmla="val 3902"/>
            </a:avLst>
          </a:prstGeom>
          <a:solidFill>
            <a:srgbClr val="161E38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1737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verdictFacts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35240" y="21031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판결 화면이 두 직접 증거의 요약 2줄을 다시 보여준다. 답을 알려주는 게 아니라, 플레이어가 자기 추론을 복기하게 만드는 장치.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60920" y="3611880"/>
            <a:ext cx="4261104" cy="1600200"/>
          </a:xfrm>
          <a:prstGeom prst="roundRect">
            <a:avLst>
              <a:gd name="adj" fmla="val 4571"/>
            </a:avLst>
          </a:prstGeom>
          <a:solidFill>
            <a:srgbClr val="161E38"/>
          </a:solidFill>
          <a:ln w="15875">
            <a:solidFill>
              <a:srgbClr val="2C35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37764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피드백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35240" y="41330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검사 편향 / 변호 편향 / 처분 오답 — 어느 쪽으로 기울었는지를 돌려준다. 재시도이지 패배가 아니다.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5349240"/>
            <a:ext cx="11055096" cy="777240"/>
          </a:xfrm>
          <a:prstGeom prst="roundRect">
            <a:avLst>
              <a:gd name="adj" fmla="val 9412"/>
            </a:avLst>
          </a:prstGeom>
          <a:solidFill>
            <a:srgbClr val="1E1B1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후 3연타 의사봉 → 엔딩. 클라이맥스 입력을 의사봉 하나로 통일했다.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 「영수증 없는 화장실」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3(본편)과 대비되는 짧은 사회적 에피소드 — 소품 케이스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1B2440"/>
          </a:solidFill>
          <a:ln w="15875">
            <a:solidFill>
              <a:srgbClr val="8E7C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9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소재 — 언어 장벽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2128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손님과 「퇴거 요구」를 둘러싼 오해. 처벌이 아니라 이해로 끝나는 케이스다.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852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증거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14553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번역 앱 기록 — 요구가 한국어로 전달됨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CCTV — 이해 후 21초 내 퇴장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572768"/>
            <a:ext cx="5312664" cy="2377440"/>
          </a:xfrm>
          <a:prstGeom prst="roundRect">
            <a:avLst>
              <a:gd name="adj" fmla="val 3077"/>
            </a:avLst>
          </a:prstGeom>
          <a:solidFill>
            <a:srgbClr val="17302C"/>
          </a:solidFill>
          <a:ln w="15875">
            <a:solidFill>
              <a:srgbClr val="3FB3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11112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무죄 + 배려 권고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11112" y="2697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본편이 「판단력의 정도」를 다뤘다면, 이 케이스는 「전달되지 않은 의사」를 다룬다. 같은 중립 컨셉의 다른 각도.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161E38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진행도 간소화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 심리 대신 쟁점 카드 → 의사봉 리듬으로 축약. 본편의 무게를 반복하지 않고, 리듬만 남긴다.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486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쟁점 카드 ▶ 의사봉 ▶ 번역 앱 기록 ▶ 의사봉 ▶ 판결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160520"/>
            <a:ext cx="5312664" cy="1920240"/>
          </a:xfrm>
          <a:prstGeom prst="roundRect">
            <a:avLst>
              <a:gd name="adj" fmla="val 3810"/>
            </a:avLst>
          </a:prstGeom>
          <a:solidFill>
            <a:srgbClr val="1E1B1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 한국어로 플레이된다 — 원본 사양이자 의도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11112" y="4709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“언어가 통하지 않는 상황”이 소재이므로, 플레이어의 언어 설정과 무관하게 원본 그대로의 언어 경험을 유지한다. 버그가 아니라 설계다.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연출 기획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진행도 UI를 세계관 오브젝트로 — 연출이 곧 규칙의 설명이 되게 한다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5513832" cy="1508760"/>
          </a:xfrm>
          <a:prstGeom prst="roundRect">
            <a:avLst>
              <a:gd name="adj" fmla="val 4848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84248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9842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73936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73936" y="22585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진행도 UI를 세계관 오브젝트로.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과장 하나 = 추 하나. 양쪽 제거 시 ◆중립◆.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5513832" cy="1508760"/>
          </a:xfrm>
          <a:prstGeom prst="roundRect">
            <a:avLst>
              <a:gd name="adj" fmla="val 4848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01968" y="1984248"/>
            <a:ext cx="731520" cy="731520"/>
          </a:xfrm>
          <a:prstGeom prst="ellipse">
            <a:avLst/>
          </a:prstGeom>
          <a:solidFill>
            <a:srgbClr val="B0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601968" y="19842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▩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16368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긴장 비네트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16368" y="22585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질서 55 미만에서 화면 가장자리가 붉어진다.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radial gradient 등가 — 중심은 침범하지 않음.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337560"/>
            <a:ext cx="5513832" cy="1508760"/>
          </a:xfrm>
          <a:prstGeom prst="roundRect">
            <a:avLst>
              <a:gd name="adj" fmla="val 4848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3721608"/>
            <a:ext cx="731520" cy="731520"/>
          </a:xfrm>
          <a:prstGeom prst="ellipse">
            <a:avLst/>
          </a:prstGeom>
          <a:solidFill>
            <a:srgbClr val="8E7CC3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" y="37216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♪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73936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773936" y="39959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SCORE 테이블 기반 절차 합성 무드 7종.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저작권 음원 없이 장면 무드를 전환한다.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337560"/>
            <a:ext cx="5513832" cy="1508760"/>
          </a:xfrm>
          <a:prstGeom prst="roundRect">
            <a:avLst>
              <a:gd name="adj" fmla="val 4848"/>
            </a:avLst>
          </a:prstGeom>
          <a:solidFill>
            <a:srgbClr val="1B2440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3721608"/>
            <a:ext cx="731520" cy="731520"/>
          </a:xfrm>
          <a:prstGeom prst="ellipse">
            <a:avLst/>
          </a:prstGeom>
          <a:solidFill>
            <a:srgbClr val="3FB39B"/>
          </a:solidFill>
          <a:ln/>
        </p:spPr>
      </p:sp>
      <p:sp>
        <p:nvSpPr>
          <p:cNvPr id="24" name="Text 22"/>
          <p:cNvSpPr/>
          <p:nvPr/>
        </p:nvSpPr>
        <p:spPr>
          <a:xfrm>
            <a:off x="6601968" y="37216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516368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SFX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16368" y="39959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의사봉 · 인정! · 기각! 전부 실시간 합성.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피드백의 즉답성이 목적.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074920"/>
            <a:ext cx="11055096" cy="1005840"/>
          </a:xfrm>
          <a:prstGeom prst="roundRect">
            <a:avLst>
              <a:gd name="adj" fmla="val 7273"/>
            </a:avLst>
          </a:prstGeom>
          <a:solidFill>
            <a:srgbClr val="1E1B1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0749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팔레트 · 연출 타이밍은 전부 GameConfig — 코드를 열지 않고 튜닝만으로 감정 곡선을 조정할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20624" cy="42062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확장 가이드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5568" y="914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케이스는 코드 수정 없이 court.json 데이터만으로 추가하는 것이 목표 구조다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공정재판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141C34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72768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locales[]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0" y="157276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caseMode 항목 — 대사·증언·증거·엔딩 텍스트 (언어별)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322576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141C34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22576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deduction[]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60320" y="2322576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측(side)별 과장 주장 + 정답 증거 key + near 증거·힌트 대사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072384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141C34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72384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verdictFacts[]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60320" y="307238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판결 화면 팩트 요약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822192"/>
            <a:ext cx="5532120" cy="621792"/>
          </a:xfrm>
          <a:prstGeom prst="roundRect">
            <a:avLst>
              <a:gd name="adj" fmla="val 11765"/>
            </a:avLst>
          </a:prstGeom>
          <a:solidFill>
            <a:srgbClr val="141C34"/>
          </a:solidFill>
          <a:ln w="12700">
            <a:solidFill>
              <a:srgbClr val="2C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2219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GameConfig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0320" y="3822192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밸런스 수치가 달라야 할 때만 — 필드 경유 (코드 수정 아님)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572768"/>
            <a:ext cx="5312664" cy="2999232"/>
          </a:xfrm>
          <a:prstGeom prst="roundRect">
            <a:avLst>
              <a:gd name="adj" fmla="val 2439"/>
            </a:avLst>
          </a:prstGeom>
          <a:solidFill>
            <a:srgbClr val="141C34"/>
          </a:solidFill>
          <a:ln w="15875">
            <a:solidFill>
              <a:srgbClr val="3FB3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설계 체크리스트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11112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286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양측 주장이 둘 다 그럴듯한 극단인가?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11112" y="28529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8529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증거 2개가 반대 방향을 가리켜 정답이 「사이」로 수렴하는가?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11112" y="34198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34198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증거의 힌트 대사가 직접 증거를 가리키는가?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11112" y="39867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3986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판결 오답 피드백이 편향 방향을 알려주는가?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754880"/>
            <a:ext cx="11055096" cy="1325880"/>
          </a:xfrm>
          <a:prstGeom prst="roundRect">
            <a:avLst>
              <a:gd name="adj" fmla="val 5517"/>
            </a:avLst>
          </a:prstGeom>
          <a:solidFill>
            <a:srgbClr val="1A1226"/>
          </a:solidFill>
          <a:ln w="15875">
            <a:solidFill>
              <a:srgbClr val="B0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919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필요 (TBD)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52303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8C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문서는 위키 「Game Design」 페이지 기준. 아트(도토 스프라이트 슬롯)는 비어 있고, 오마쥬 공지문(역전재판·초밥키우기 리소스 표기)은 본인 표기상 “추후 수정 예정” 상태다.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공정재판 (Mental — CASE 3·4) 게임 기획서</dc:title>
  <dc:subject>PptxGenJS Presentation</dc:subject>
  <dc:creator>잉여피자어부 / GGHF</dc:creator>
  <cp:lastModifiedBy>잉여피자어부 / GGHF</cp:lastModifiedBy>
  <cp:revision>1</cp:revision>
  <dcterms:created xsi:type="dcterms:W3CDTF">2026-07-28T03:30:24Z</dcterms:created>
  <dcterms:modified xsi:type="dcterms:W3CDTF">2026-07-28T03:30:24Z</dcterms:modified>
</cp:coreProperties>
</file>